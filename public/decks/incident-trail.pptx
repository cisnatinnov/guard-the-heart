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Incident Trail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5 crime scenes · 5 clues · 25 information pieces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2300000"/>
            <a:ext cx="10912000" cy="28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20292B"/>
                </a:solidFill>
                <a:latin typeface="Segoe UI"/>
                <a:cs typeface="Segoe UI"/>
              </a:rPr>
              <a:t>Read the scene, then find the clue that closes it.</a:t>
            </a:r>
          </a:p>
          <a:p>
            <a:pPr algn="ctr"/>
            <a:r>
              <a:rPr lang="en-US" sz="1800" dirty="0">
                <a:solidFill>
                  <a:srgbClr val="52666A"/>
                </a:solidFill>
                <a:latin typeface="Segoe UI"/>
                <a:cs typeface="Segoe UI"/>
              </a:rPr>
              <a:t>Each information piece carries its own answer sheet.</a:t>
            </a:r>
          </a:p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Twenty points per scene closed with the right clue.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Crime scene 1: Ember Gallery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Question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2300000"/>
            <a:ext cx="10912000" cy="2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3000" b="1" dirty="0">
                <a:solidFill>
                  <a:srgbClr val="20292B"/>
                </a:solidFill>
                <a:latin typeface="Segoe UI"/>
                <a:cs typeface="Segoe UI"/>
              </a:rPr>
              <a:t>Which exhibit triggered the first alarm?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Crime scene 2: Harbor Lock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Question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2300000"/>
            <a:ext cx="10912000" cy="2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3000" b="1" dirty="0">
                <a:solidFill>
                  <a:srgbClr val="20292B"/>
                </a:solidFill>
                <a:latin typeface="Segoe UI"/>
                <a:cs typeface="Segoe UI"/>
              </a:rPr>
              <a:t>Which vessel was left unattended?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Crime scene 3: Atrium Glass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Question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2300000"/>
            <a:ext cx="10912000" cy="2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3000" b="1" dirty="0">
                <a:solidFill>
                  <a:srgbClr val="20292B"/>
                </a:solidFill>
                <a:latin typeface="Segoe UI"/>
                <a:cs typeface="Segoe UI"/>
              </a:rPr>
              <a:t>Which floor was cleared first?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Crime scene 4: Server Vault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Question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2300000"/>
            <a:ext cx="10912000" cy="2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3000" b="1" dirty="0">
                <a:solidFill>
                  <a:srgbClr val="20292B"/>
                </a:solidFill>
                <a:latin typeface="Segoe UI"/>
                <a:cs typeface="Segoe UI"/>
              </a:rPr>
              <a:t>Which account opened the maintenance log?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Crime scene 5: Observatory Deck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Question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2300000"/>
            <a:ext cx="10912000" cy="2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3000" b="1" dirty="0">
                <a:solidFill>
                  <a:srgbClr val="20292B"/>
                </a:solidFill>
                <a:latin typeface="Segoe UI"/>
                <a:cs typeface="Segoe UI"/>
              </a:rPr>
              <a:t>Which telescope was moved?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Clue tray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Five clues, one per crime scene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850000"/>
            <a:ext cx="10912000" cy="37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dirty="0">
                <a:solidFill>
                  <a:srgbClr val="20292B"/>
                </a:solidFill>
                <a:latin typeface="Segoe UI"/>
                <a:cs typeface="Segoe UI"/>
              </a:rPr>
              <a:t>Scorch marks ring the Solar Lantern pedestal.  (piece #4)</a:t>
            </a:r>
          </a:p>
          <a:p>
            <a:pPr algn="ctr"/>
            <a:r>
              <a:rPr lang="en-US" sz="1700" dirty="0">
                <a:solidFill>
                  <a:srgbClr val="20292B"/>
                </a:solidFill>
                <a:latin typeface="Segoe UI"/>
                <a:cs typeface="Segoe UI"/>
              </a:rPr>
              <a:t>Harbour camera shows the Tideless drifting unmoored.  (piece #12)</a:t>
            </a:r>
          </a:p>
          <a:p>
            <a:pPr algn="ctr"/>
            <a:r>
              <a:rPr lang="en-US" sz="1700" dirty="0">
                <a:solidFill>
                  <a:srgbClr val="20292B"/>
                </a:solidFill>
                <a:latin typeface="Segoe UI"/>
                <a:cs typeface="Segoe UI"/>
              </a:rPr>
              <a:t>Level 4 access log closes before the alarm sounds.  (piece #18)</a:t>
            </a:r>
          </a:p>
          <a:p>
            <a:pPr algn="ctr"/>
            <a:r>
              <a:rPr lang="en-US" sz="1700" dirty="0">
                <a:solidFill>
                  <a:srgbClr val="20292B"/>
                </a:solidFill>
                <a:latin typeface="Segoe UI"/>
                <a:cs typeface="Segoe UI"/>
              </a:rPr>
              <a:t>Badge NightOwl swiped the vault at 02:14.  (piece #8)</a:t>
            </a:r>
          </a:p>
          <a:p>
            <a:pPr algn="ctr"/>
            <a:r>
              <a:rPr lang="en-US" sz="1700" dirty="0">
                <a:solidFill>
                  <a:srgbClr val="20292B"/>
                </a:solidFill>
                <a:latin typeface="Segoe UI"/>
                <a:cs typeface="Segoe UI"/>
              </a:rPr>
              <a:t>The Meridian 12 cradle sits forty degrees off centre.  (piece #23)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#1: Gallery night roster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Two guards walked the west wing at 21:00 and reported nothing unusual.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West wing was clear at 21:00, so the gallery fault happened later.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#2: Power dip report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A two second dip was logged on the north circuit at 01:52.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The dip at 01:52 is the earliest recorded electrical event.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#3: Case soot sample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Waxy residue sits in a perfect ring around pedestal three.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Pedestal three was heat damaged, not struck by a tool.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#4: Glass fragment map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Fragments lie inward from the case, so the impact came from inside.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The gallery damage was internal, ruling out a thrown object.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#5: Thermostat override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Someone pushed the lantern override at 01:58 from a wall panel.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The override was used on purpose, not by a fault.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#6: Night porter statement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The porter left the atrium at 00:40 and saw the doors latched.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Doors were latched, so entry used another route.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#7: Vault badge log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One badge opened the vault door: NightOwl, at 02:14.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NightOwl is the only account recorded entering the vault.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#8: Server room temperature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Rack five ran four degrees warm from 01:30 onward.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Rack five was the warm rack, but temperature alone is not a cause.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#9: Camera blind corner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The archive corridor camera has been offline for eleven days.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The archive corridor has no usable footage for the night.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#10: Mooring assignment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Four berths were staffed and one was left to the night shift.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The unstaffed berth belonged to the night shift.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#11: Harbour camera still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A still frame shows the Tideless swinging free of its lines.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The Tideless lost its mooring lines, so it was unattended.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#12: Fuel reading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The Tideless drew fuel at 01:45 with no crew logged aboard.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Fuel was taken while the boat was empty.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#13: Floor pressure sensors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Level 4 held steady pressure while other floors dipped.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Level 4 was the calmest floor during the event.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#14: Cleaning cart log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A cart was parked on Level 2 and never returned to the store.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The parked cart narrows the search to Level 2 and 4.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#15: Fire panel printout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The panel triggered from a manual call point, zone seven.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Zone seven covers the atrium glass front.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#16: Lift usage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The service lift ran empty from 02:00 to 02:20.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An empty service lift trip matches the cleared floor.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#17: Atrium access extract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The Level 4 log ends at 01:59 and is never reopened.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Level 4 was cleared first, then the log was closed.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#18: Key register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Two override keys are unaccounted for since the gala.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Missing keys explain how locked doors were opened.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#19: Sky clarity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Cloudless conditions allowed full starlight for the deck.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Clear sky made the deck crew visible on the dome cam.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#20: Dome camera sweep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The sweep found one open dome door and no forced entry.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The dome door was opened from inside the deck.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#21: Lens inventory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Every lens tray is signed out except one.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Exactly one lens is unaccounted for.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#22: Cradle survey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The Meridian 12 cradle sits forty degrees off its mount mark.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Meridian 12 was rotated, which matches a moved telescope.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#23: Dome temperature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The dome cooled four degrees inside fifteen minutes.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The dome opened and lost air quickly.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#24: Suspect interview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The suspect admits moving a telescope to see the harbour.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The motive links the deck to the harbour incident.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Information #25: Timeline summary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Piece and answer sheet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950000"/>
            <a:ext cx="10912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0292B"/>
                </a:solidFill>
                <a:latin typeface="Segoe UI"/>
                <a:cs typeface="Segoe UI"/>
              </a:rPr>
              <a:t>Dip at 01:52, override at 01:58, vault at 02:14, then the alarm.</a:t>
            </a:r>
          </a:p>
          <a:p>
            <a:pPr algn="ctr"/>
            <a:r>
              <a:rPr lang="en-US" sz="1700" dirty="0">
                <a:solidFill>
                  <a:srgbClr val="027479"/>
                </a:solidFill>
                <a:latin typeface="Segoe UI"/>
                <a:cs typeface="Segoe UI"/>
              </a:rPr>
              <a:t>Answer sheet: A single night links all five scenes in this order.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Case closed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Trail summary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850000"/>
            <a:ext cx="10912000" cy="37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dirty="0">
                <a:solidFill>
                  <a:srgbClr val="20292B"/>
                </a:solidFill>
                <a:latin typeface="Segoe UI"/>
                <a:cs typeface="Segoe UI"/>
              </a:rPr>
              <a:t>Ember Gallery: The Solar Lantern</a:t>
            </a:r>
          </a:p>
          <a:p>
            <a:pPr algn="ctr"/>
            <a:r>
              <a:rPr lang="en-US" sz="1700" dirty="0">
                <a:solidFill>
                  <a:srgbClr val="20292B"/>
                </a:solidFill>
                <a:latin typeface="Segoe UI"/>
                <a:cs typeface="Segoe UI"/>
              </a:rPr>
              <a:t>Harbor Lock: The Tideless</a:t>
            </a:r>
          </a:p>
          <a:p>
            <a:pPr algn="ctr"/>
            <a:r>
              <a:rPr lang="en-US" sz="1700" dirty="0">
                <a:solidFill>
                  <a:srgbClr val="20292B"/>
                </a:solidFill>
                <a:latin typeface="Segoe UI"/>
                <a:cs typeface="Segoe UI"/>
              </a:rPr>
              <a:t>Atrium Glass: Level 4</a:t>
            </a:r>
          </a:p>
          <a:p>
            <a:pPr algn="ctr"/>
            <a:r>
              <a:rPr lang="en-US" sz="1700" dirty="0">
                <a:solidFill>
                  <a:srgbClr val="20292B"/>
                </a:solidFill>
                <a:latin typeface="Segoe UI"/>
                <a:cs typeface="Segoe UI"/>
              </a:rPr>
              <a:t>Server Vault: NightOwl</a:t>
            </a:r>
          </a:p>
          <a:p>
            <a:pPr algn="ctr"/>
            <a:r>
              <a:rPr lang="en-US" sz="1700" dirty="0">
                <a:solidFill>
                  <a:srgbClr val="20292B"/>
                </a:solidFill>
                <a:latin typeface="Segoe UI"/>
                <a:cs typeface="Segoe UI"/>
              </a:rPr>
              <a:t>Observatory Deck: Meridian 12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uard The Heart">
  <a:themeElements>
    <a:clrScheme name="Guard The Heart">
      <a:dk1>
        <a:sysClr val="windowText" lastClr="000000"/>
      </a:dk1>
      <a:lt1>
        <a:sysClr val="window" lastClr="FFFFFF"/>
      </a:lt1>
      <a:dk2>
        <a:srgbClr val="20292B"/>
      </a:dk2>
      <a:lt2>
        <a:srgbClr val="FFF4E6"/>
      </a:lt2>
      <a:accent1>
        <a:srgbClr val="027479"/>
      </a:accent1>
      <a:accent2>
        <a:srgbClr val="F48220"/>
      </a:accent2>
      <a:accent3>
        <a:srgbClr val="BE392A"/>
      </a:accent3>
      <a:accent4>
        <a:srgbClr val="FFF6CC"/>
      </a:accent4>
      <a:accent5>
        <a:srgbClr val="52666A"/>
      </a:accent5>
      <a:accent6>
        <a:srgbClr val="E8D9C9"/>
      </a:accent6>
      <a:hlink>
        <a:srgbClr val="027479"/>
      </a:hlink>
      <a:folHlink>
        <a:srgbClr val="52666A"/>
      </a:folHlink>
    </a:clrScheme>
    <a:fontScheme name="Guard The Hear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Guard The Hear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